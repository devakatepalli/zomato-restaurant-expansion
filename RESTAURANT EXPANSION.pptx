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820" r:id="rId5"/>
    <p:sldId id="846" r:id="rId6"/>
    <p:sldId id="837" r:id="rId7"/>
    <p:sldId id="838" r:id="rId8"/>
    <p:sldId id="835" r:id="rId9"/>
    <p:sldId id="849" r:id="rId10"/>
    <p:sldId id="851" r:id="rId11"/>
    <p:sldId id="850" r:id="rId12"/>
    <p:sldId id="853" r:id="rId13"/>
    <p:sldId id="856" r:id="rId14"/>
    <p:sldId id="852" r:id="rId15"/>
    <p:sldId id="854" r:id="rId16"/>
    <p:sldId id="847" r:id="rId17"/>
    <p:sldId id="839" r:id="rId18"/>
    <p:sldId id="855" r:id="rId19"/>
    <p:sldId id="83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  <p:cmAuthor id="3" name="Sai Kumar Katepalli" initials="SK" lastIdx="1" clrIdx="2">
    <p:extLst>
      <p:ext uri="{19B8F6BF-5375-455C-9EA6-DF929625EA0E}">
        <p15:presenceInfo xmlns:p15="http://schemas.microsoft.com/office/powerpoint/2012/main" userId="d982d2f3f4d5179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CBBA"/>
    <a:srgbClr val="562F08"/>
    <a:srgbClr val="853F00"/>
    <a:srgbClr val="F7F7F7"/>
    <a:srgbClr val="E6E6E6"/>
    <a:srgbClr val="1C1E26"/>
    <a:srgbClr val="303342"/>
    <a:srgbClr val="485F74"/>
    <a:srgbClr val="354655"/>
    <a:srgbClr val="C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58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>
        <p:guide orient="horz" pos="4080"/>
        <p:guide pos="3840"/>
      </p:guideLst>
    </p:cSldViewPr>
  </p:slideViewPr>
  <p:outlineViewPr>
    <p:cViewPr>
      <p:scale>
        <a:sx n="75" d="100"/>
        <a:sy n="75" d="100"/>
      </p:scale>
      <p:origin x="0" y="-1857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757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421010-3731-422F-8CF1-CD47B2D7C9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56080-143A-4905-932A-5C7754887A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20ABC-E11D-42B4-A428-76B2C5BC0052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9276-DB8D-43B4-8029-4A695209B9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27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2T10:12:51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2T10:12:51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2T10:12:51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2T10:12:51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2T10:12:51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2T10:12:51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EED04-A4F0-49ED-B42E-211B56474E8D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20CB7-DCA5-4E5B-97F1-300CDD8D2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1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1">
              <a:lumMod val="10000"/>
            </a:schemeClr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48351"/>
            <a:ext cx="10515600" cy="762338"/>
          </a:xfrm>
        </p:spPr>
        <p:txBody>
          <a:bodyPr>
            <a:normAutofit/>
          </a:bodyPr>
          <a:lstStyle>
            <a:lvl1pPr algn="ctr">
              <a:defRPr sz="1800" b="1" cap="all" spc="60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81500" y="1500330"/>
            <a:ext cx="3429000" cy="3255264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8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3784" y="1017127"/>
            <a:ext cx="3259239" cy="638050"/>
          </a:xfrm>
        </p:spPr>
        <p:txBody>
          <a:bodyPr tIns="0" bIns="0" anchor="b">
            <a:normAutofit/>
          </a:bodyPr>
          <a:lstStyle>
            <a:lvl1pPr algn="l">
              <a:lnSpc>
                <a:spcPct val="7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C420D7-C2DD-AA2E-0967-246BCAC712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93784" y="1667337"/>
            <a:ext cx="3259138" cy="1635155"/>
          </a:xfrm>
        </p:spPr>
        <p:txBody>
          <a:bodyPr tIns="0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6643" y="-1"/>
            <a:ext cx="6146157" cy="3452149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CA433-95E2-FC02-373D-296793B7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59533" y="1"/>
            <a:ext cx="1232467" cy="34521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734D26-5CDD-1D72-F4F5-4E8F2E8A7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52149"/>
            <a:ext cx="1232467" cy="34058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6049" y="3452149"/>
            <a:ext cx="6146157" cy="3423213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8165" y="3831219"/>
            <a:ext cx="2719830" cy="2638706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3133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12191999" cy="1649977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900221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3E7ECCC-BD1E-CBCA-E8C4-9C7A044050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012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012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FEE9A33-86BC-1ACB-FD12-3D125D7AC6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67529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79A1158-8509-9A92-5B8F-B87303ABC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7529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4C8324F-73B9-5F50-2F8B-86B0683A48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046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64B4E6B-794C-37E8-8DD5-B039832950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83046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0371E6D-BAFA-5426-4D03-3E4D6EA4E0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8563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B8342D6-37CA-33AA-29B9-2FEB001504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8563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D35E594-AF24-811C-7ECB-E0BC86C3A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4079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DADD4CA-04B2-8363-1058-E2EEB4A1B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14079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182880" tIns="0" rIns="18288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ED80DC6-E45B-98F5-D668-F7E0728080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33104" y="4942244"/>
            <a:ext cx="3345083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74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900221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706FB3F8-975F-CDE6-AD5A-41A6C4AEFA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011" y="1204943"/>
            <a:ext cx="10252763" cy="356556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70E058DD-8D94-446E-787F-5F2A17EA2196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838306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3E7ECCC-BD1E-CBCA-E8C4-9C7A044050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4504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168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Chart Placeholder 23">
            <a:extLst>
              <a:ext uri="{FF2B5EF4-FFF2-40B4-BE49-F238E27FC236}">
                <a16:creationId xmlns:a16="http://schemas.microsoft.com/office/drawing/2014/main" id="{EAFEEDA8-9219-BD40-C230-E92998E15A23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3025009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920430E8-C9E5-7571-B3E8-A14938C6E4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5617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79A1158-8509-9A92-5B8F-B87303ABC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55280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Chart Placeholder 23">
            <a:extLst>
              <a:ext uri="{FF2B5EF4-FFF2-40B4-BE49-F238E27FC236}">
                <a16:creationId xmlns:a16="http://schemas.microsoft.com/office/drawing/2014/main" id="{9C9FDEE4-E778-B309-F78A-B097A62D3B10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216862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0D3608-9448-F8A1-E942-E798931A98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06729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64B4E6B-794C-37E8-8DD5-B039832950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6392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Chart Placeholder 23">
            <a:extLst>
              <a:ext uri="{FF2B5EF4-FFF2-40B4-BE49-F238E27FC236}">
                <a16:creationId xmlns:a16="http://schemas.microsoft.com/office/drawing/2014/main" id="{4B5D9EAC-E1E4-971C-4DCF-F4BA495E30D6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7403565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052DFEB-4583-7D49-EB81-F63A70289A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97841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B8342D6-37CA-33AA-29B9-2FEB001504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37504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Chart Placeholder 23">
            <a:extLst>
              <a:ext uri="{FF2B5EF4-FFF2-40B4-BE49-F238E27FC236}">
                <a16:creationId xmlns:a16="http://schemas.microsoft.com/office/drawing/2014/main" id="{8D104B7B-2C5C-79FE-3E90-69E9EE2BD36B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9602753" y="1692604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0F91EA5-D9F1-14B5-2383-469320ED89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88952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DADD4CA-04B2-8363-1058-E2EEB4A1B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8615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18570" y="3865563"/>
            <a:ext cx="10186205" cy="224631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635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188" y="1806487"/>
            <a:ext cx="493262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2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26F2423-DF97-D100-BE6D-29D9EE15B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9613" y="2821450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51312" y="2809756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768E93BF-5DA7-33DE-7DBC-0C6057C3B37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39613" y="3437926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EBD26BC-C603-AEA2-3415-24A8A1005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51312" y="3418079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AFC2E8B1-029D-44E0-1893-3916B100601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39613" y="4054403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9ACA4C2-F939-8D8C-98EF-A61C8B760F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51312" y="4026402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-1"/>
            <a:ext cx="6096000" cy="5243333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5243332"/>
            <a:ext cx="6095999" cy="1637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17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4328" y="309448"/>
            <a:ext cx="3231145" cy="484632"/>
          </a:xfrm>
        </p:spPr>
        <p:txBody>
          <a:bodyPr tIns="0" bIns="0" anchor="b">
            <a:normAutofit/>
          </a:bodyPr>
          <a:lstStyle>
            <a:lvl1pPr algn="l">
              <a:lnSpc>
                <a:spcPct val="100000"/>
              </a:lnSpc>
              <a:defRPr sz="1800" b="1" cap="none" spc="0" normalizeH="0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4329" y="883387"/>
            <a:ext cx="3227060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3081" y="-11683"/>
            <a:ext cx="4114801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71414F8-DD91-4BEB-BD17-D9C191E066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1175" y="245774"/>
            <a:ext cx="3072064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DA3D7EC-7E91-837C-0F5C-2FA02822C2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51174" y="906920"/>
            <a:ext cx="3056497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403EF5D-5D5E-DB9C-1AA6-6C838DA9DC1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-22804" y="3428237"/>
            <a:ext cx="4065886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E66A002-611A-AC3C-3354-FC6A8B8807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8700" y="3730892"/>
            <a:ext cx="3239314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25D8040-D0AA-C720-C6C4-6B23368CD0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38700" y="4417990"/>
            <a:ext cx="3227060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2DD639C-33DD-1ACB-4F21-BE087163AE1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168042" y="3428237"/>
            <a:ext cx="4034118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5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28494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68507" y="1466591"/>
            <a:ext cx="10054988" cy="118516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70E058DD-8D94-446E-787F-5F2A17EA2196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068504" y="3109249"/>
            <a:ext cx="10054990" cy="2907792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accent1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58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31542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58347" y="1446271"/>
            <a:ext cx="10049920" cy="435453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A52954E-7826-2F3E-37FB-F67D5971E4E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42740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3D09183F-8234-58F5-2CE4-5D000BF72EA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447475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0E530913-6A7A-CB72-87E9-5D3ADD650B0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752210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548FF31E-A9C5-CFCF-43B0-5EF275D7402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56945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17">
            <a:extLst>
              <a:ext uri="{FF2B5EF4-FFF2-40B4-BE49-F238E27FC236}">
                <a16:creationId xmlns:a16="http://schemas.microsoft.com/office/drawing/2014/main" id="{900F4E96-BF95-1386-47A4-D14CEB09D8E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361679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17">
            <a:extLst>
              <a:ext uri="{FF2B5EF4-FFF2-40B4-BE49-F238E27FC236}">
                <a16:creationId xmlns:a16="http://schemas.microsoft.com/office/drawing/2014/main" id="{E91EF67B-B01F-400D-2DC2-79A748E2A60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353930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17">
            <a:extLst>
              <a:ext uri="{FF2B5EF4-FFF2-40B4-BE49-F238E27FC236}">
                <a16:creationId xmlns:a16="http://schemas.microsoft.com/office/drawing/2014/main" id="{B320C6BD-6887-1B30-627B-0AB6029E8F5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658665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9B504DC8-6E54-98FA-2461-72B7340F586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963400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0C21A6A4-EB4D-A0D0-56D0-93FB0E749A1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055073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DB72A218-DAC1-2261-C0A3-B0767FD2FA0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359808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C3CF0080-9BDB-00BA-29B2-9174EE3C411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64543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17">
            <a:extLst>
              <a:ext uri="{FF2B5EF4-FFF2-40B4-BE49-F238E27FC236}">
                <a16:creationId xmlns:a16="http://schemas.microsoft.com/office/drawing/2014/main" id="{C6A1C08D-7BF4-5FAF-C2FF-AE5047518A0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969278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BA44657A-8B86-EA70-6560-03FEB781F9E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274012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7">
            <a:extLst>
              <a:ext uri="{FF2B5EF4-FFF2-40B4-BE49-F238E27FC236}">
                <a16:creationId xmlns:a16="http://schemas.microsoft.com/office/drawing/2014/main" id="{8CED7DAF-DABA-4DFF-4526-79601E7E452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578746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17">
            <a:extLst>
              <a:ext uri="{FF2B5EF4-FFF2-40B4-BE49-F238E27FC236}">
                <a16:creationId xmlns:a16="http://schemas.microsoft.com/office/drawing/2014/main" id="{DE375DAB-B8B1-7BFE-421A-2576642D0DB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883481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17">
            <a:extLst>
              <a:ext uri="{FF2B5EF4-FFF2-40B4-BE49-F238E27FC236}">
                <a16:creationId xmlns:a16="http://schemas.microsoft.com/office/drawing/2014/main" id="{1DC92198-D94C-7632-19D2-3D84CBD1BCB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88215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17">
            <a:extLst>
              <a:ext uri="{FF2B5EF4-FFF2-40B4-BE49-F238E27FC236}">
                <a16:creationId xmlns:a16="http://schemas.microsoft.com/office/drawing/2014/main" id="{ADE4906C-8781-3D55-6709-40134F528A7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540305" y="4547853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17">
            <a:extLst>
              <a:ext uri="{FF2B5EF4-FFF2-40B4-BE49-F238E27FC236}">
                <a16:creationId xmlns:a16="http://schemas.microsoft.com/office/drawing/2014/main" id="{5A09A8A3-44A8-3DBC-2A4E-C534BD04394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055262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AF3FD113-A1D1-4EEF-7A6A-8D911FEFCA3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359997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17">
            <a:extLst>
              <a:ext uri="{FF2B5EF4-FFF2-40B4-BE49-F238E27FC236}">
                <a16:creationId xmlns:a16="http://schemas.microsoft.com/office/drawing/2014/main" id="{DBF1041A-E533-7269-1C16-B8F07C39D0A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664732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17">
            <a:extLst>
              <a:ext uri="{FF2B5EF4-FFF2-40B4-BE49-F238E27FC236}">
                <a16:creationId xmlns:a16="http://schemas.microsoft.com/office/drawing/2014/main" id="{723620E9-23D5-45A7-B061-9B5BA0AB817B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9969467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0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5857" y="2705755"/>
            <a:ext cx="3561986" cy="1446491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A56CA8-AE7D-1692-CD03-8052B79B4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1721" y="-16358"/>
            <a:ext cx="7354442" cy="689071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1721" y="-6197"/>
            <a:ext cx="782319" cy="2270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54040" y="-10160"/>
            <a:ext cx="3086262" cy="22707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66191" y="526575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D2E0A3-3A4D-815C-8C07-8058D5694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41558" y="1101504"/>
            <a:ext cx="161991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B5590F9-2D9B-7EF7-DD7B-0088DB0B18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191" y="1138210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13E55D8-560B-DF34-B34D-E3A21C43BB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9328" y="2831055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6A5A1F2-505F-747B-818F-CBE5074E2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94695" y="3405984"/>
            <a:ext cx="161991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063E3D4-FEB7-9BB5-B22D-843990911C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19328" y="3442690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4E713C15-6491-75F6-6A03-ECBBB25972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7560" y="2259981"/>
            <a:ext cx="3042920" cy="233742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100ACF-978B-E5F8-58B9-878278B3D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60480" y="2270140"/>
            <a:ext cx="727584" cy="23368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8A96B4-52C5-47DA-6BD6-050647AEB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6961" y="4599322"/>
            <a:ext cx="777079" cy="2270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66AD3C9-51DF-968B-BDFA-A072D79E69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54040" y="4596782"/>
            <a:ext cx="3076102" cy="22707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6BE9D1C-5464-1BB4-DD8F-40B27F9E7E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57280" y="5261360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E8A1D00-787E-E601-743F-F3A607B90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32647" y="5836289"/>
            <a:ext cx="161991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F9E3A6-F6B7-CCAC-D810-CD47EB1C5D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57280" y="5872995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2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29510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85A36-9B2E-CD52-C188-43035C62D7D2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022350" y="1584960"/>
            <a:ext cx="10146806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839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 2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908" y="368658"/>
            <a:ext cx="6228732" cy="830221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0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3906" y="1430936"/>
            <a:ext cx="6228732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2619741-BE88-A22C-6A3B-780557621A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906" y="2029538"/>
            <a:ext cx="6228732" cy="109076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EBD26BC-C603-AEA2-3415-24A8A1005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3906" y="3218958"/>
            <a:ext cx="6228732" cy="344009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9F0960D-533E-D280-6096-A2F8BAC7AE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3906" y="3640657"/>
            <a:ext cx="6228732" cy="344009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9ACA4C2-F939-8D8C-98EF-A61C8B760F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3906" y="4073211"/>
            <a:ext cx="6228732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1BF306D-A7D8-5086-F014-05405FA67D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3906" y="4675595"/>
            <a:ext cx="6228732" cy="1154882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36560" y="-1"/>
            <a:ext cx="4155440" cy="5243333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36559" y="5243332"/>
            <a:ext cx="4155440" cy="1637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2">
              <a:lumMod val="10000"/>
            </a:schemeClr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7222" y="2247391"/>
            <a:ext cx="4434840" cy="762338"/>
          </a:xfrm>
          <a:noFill/>
        </p:spPr>
        <p:txBody>
          <a:bodyPr>
            <a:normAutofit/>
          </a:bodyPr>
          <a:lstStyle>
            <a:lvl1pPr algn="l">
              <a:defRPr sz="4800" b="1" cap="all" spc="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516380" y="1730247"/>
            <a:ext cx="3657600" cy="3472282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810CE0D-B662-5180-72B1-8363C2E1BD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7222" y="3258237"/>
            <a:ext cx="4434840" cy="368884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92BFD6-74C7-2D2A-4F93-95F4341BAB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67222" y="3748147"/>
            <a:ext cx="4434840" cy="1454381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 b="1" cap="none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626753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A29B-5AE9-CB8D-8A2B-144DBB8BCB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043" y="365125"/>
            <a:ext cx="11100126" cy="1325563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0432AB-307E-C133-AB03-5B6286B22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B1DDF95-5C6A-BFC2-3D73-E19530C8D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099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10000"/>
            <a:lumOff val="9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52378-33F3-9133-FF97-6EFCBD42C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B6496-C09F-CF62-3B1A-8BD3AB12C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F26F1-942C-E394-D4F4-E2C72E857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9C0C1-EE54-4EF7-BCC6-9C36988C399C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6F9A7-A5DA-8EAD-6359-9316AC522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9CBAD-9F11-FF8A-5CB4-6C8682861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F588F-3268-487C-BB05-403E3E2B4B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1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7EDE37F-A91F-2CE5-7176-FA96308E994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9525"/>
            <a:ext cx="12192000" cy="6858000"/>
          </a:xfr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B9E7D9B-9F62-FD23-417A-4C9F4936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62" y="4194313"/>
            <a:ext cx="5420138" cy="59634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RESTAURANTS EXPANSION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7E71D87-1848-2D6F-9283-B1D6FF574762}"/>
                  </a:ext>
                </a:extLst>
              </p14:cNvPr>
              <p14:cNvContentPartPr/>
              <p14:nvPr/>
            </p14:nvContentPartPr>
            <p14:xfrm>
              <a:off x="-428655" y="129549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7E71D87-1848-2D6F-9283-B1D6FF5747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37295" y="128649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55DB757D-5B3B-F771-F584-C20D223EC7C6}"/>
              </a:ext>
            </a:extLst>
          </p:cNvPr>
          <p:cNvSpPr txBox="1"/>
          <p:nvPr/>
        </p:nvSpPr>
        <p:spPr>
          <a:xfrm>
            <a:off x="1000125" y="5010150"/>
            <a:ext cx="5510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3CB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Expansion Strategies and Marketing Insights</a:t>
            </a:r>
          </a:p>
          <a:p>
            <a:br>
              <a:rPr lang="en-US" dirty="0">
                <a:solidFill>
                  <a:srgbClr val="E3CBB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E3CB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Katepalli Deva Naga Sai Kumar</a:t>
            </a:r>
            <a:endParaRPr lang="en-IN" dirty="0">
              <a:solidFill>
                <a:srgbClr val="E3CB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848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B8665-DFE5-A86E-1EFE-E5C981DF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FB3785B-D37C-37A3-BA34-D4E3C143C5D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67035"/>
            <a:ext cx="12192000" cy="6914790"/>
          </a:xfr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AD122716-3D28-6F33-F8D0-6681B6ADB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9" y="1295489"/>
            <a:ext cx="6276975" cy="1181011"/>
          </a:xfrm>
        </p:spPr>
        <p:txBody>
          <a:bodyPr>
            <a:noAutofit/>
          </a:bodyPr>
          <a:lstStyle/>
          <a:p>
            <a:pPr algn="l"/>
            <a:r>
              <a:rPr lang="en-US" sz="4800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Overview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70C09CF-6AB6-7F39-6487-92F26E317126}"/>
                  </a:ext>
                </a:extLst>
              </p14:cNvPr>
              <p14:cNvContentPartPr/>
              <p14:nvPr/>
            </p14:nvContentPartPr>
            <p14:xfrm>
              <a:off x="-428655" y="129549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70C09CF-6AB6-7F39-6487-92F26E3171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37655" y="128649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2E3937B-F73C-D6A4-682D-56DF3D368ECB}"/>
              </a:ext>
            </a:extLst>
          </p:cNvPr>
          <p:cNvSpPr txBox="1"/>
          <p:nvPr/>
        </p:nvSpPr>
        <p:spPr>
          <a:xfrm>
            <a:off x="4667250" y="2543175"/>
            <a:ext cx="64198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the Data</a:t>
            </a:r>
          </a:p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Insights</a:t>
            </a:r>
          </a:p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at a Glance</a:t>
            </a:r>
          </a:p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Insights</a:t>
            </a:r>
          </a:p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255405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B44ED-A322-F760-B7F5-FDD85F79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03618A5-ED80-1453-70EE-E07D72707D1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9525"/>
            <a:ext cx="12192000" cy="685800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B1B3577-1C0C-20DD-271D-97F1851D2183}"/>
                  </a:ext>
                </a:extLst>
              </p14:cNvPr>
              <p14:cNvContentPartPr/>
              <p14:nvPr/>
            </p14:nvContentPartPr>
            <p14:xfrm>
              <a:off x="-428655" y="129549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B1B3577-1C0C-20DD-271D-97F1851D21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37655" y="128649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4A4ED1A7-FC9D-340C-9623-AA847B1F6704}"/>
              </a:ext>
            </a:extLst>
          </p:cNvPr>
          <p:cNvSpPr txBox="1"/>
          <p:nvPr/>
        </p:nvSpPr>
        <p:spPr>
          <a:xfrm>
            <a:off x="1085849" y="1619250"/>
            <a:ext cx="5876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are hired as a consultant data analyst by Zomato where the team is looking for expansion and opening more restaurants. Your task is to develop strategies/suggestions for opening newer restaurants.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13634B-6E98-BB0A-E19C-3960E617CD8C}"/>
              </a:ext>
            </a:extLst>
          </p:cNvPr>
          <p:cNvSpPr txBox="1"/>
          <p:nvPr/>
        </p:nvSpPr>
        <p:spPr>
          <a:xfrm>
            <a:off x="1085849" y="1000125"/>
            <a:ext cx="449188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376399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959EA-3A10-7681-DFDA-269DD3511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EAFE3D8-143A-8C96-4931-494BF306EDA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9885"/>
            <a:ext cx="12192000" cy="685800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119F47E-65B7-9059-80AA-C07E92779133}"/>
                  </a:ext>
                </a:extLst>
              </p14:cNvPr>
              <p14:cNvContentPartPr/>
              <p14:nvPr/>
            </p14:nvContentPartPr>
            <p14:xfrm>
              <a:off x="-428655" y="129549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119F47E-65B7-9059-80AA-C07E927791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37655" y="128649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BF4B617C-2A8E-2064-B162-47496EF8B8CE}"/>
              </a:ext>
            </a:extLst>
          </p:cNvPr>
          <p:cNvSpPr txBox="1"/>
          <p:nvPr/>
        </p:nvSpPr>
        <p:spPr>
          <a:xfrm>
            <a:off x="4800600" y="2152650"/>
            <a:ext cx="64960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9,000+ restaurants across 15 countries.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1,825 unique cuisines.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Avg. rating = 2.9.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Avg. price range = 1.8.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voters = ~1.5M.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E025C-65FC-BB89-1F97-2D1BB5C2C492}"/>
              </a:ext>
            </a:extLst>
          </p:cNvPr>
          <p:cNvSpPr txBox="1"/>
          <p:nvPr/>
        </p:nvSpPr>
        <p:spPr>
          <a:xfrm>
            <a:off x="4800600" y="1447800"/>
            <a:ext cx="47701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The Data</a:t>
            </a:r>
          </a:p>
        </p:txBody>
      </p:sp>
    </p:spTree>
    <p:extLst>
      <p:ext uri="{BB962C8B-B14F-4D97-AF65-F5344CB8AC3E}">
        <p14:creationId xmlns:p14="http://schemas.microsoft.com/office/powerpoint/2010/main" val="3638656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9F7F6-F593-A500-954A-EEB4A02F0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D50CE4F-F12F-BF50-6E05-66B765AB3EA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9525"/>
            <a:ext cx="12192000" cy="6858000"/>
          </a:xfr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0CB0A24A-8160-9475-4CE3-D667B788A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61" y="924520"/>
            <a:ext cx="6296439" cy="4971455"/>
          </a:xfrm>
        </p:spPr>
        <p:txBody>
          <a:bodyPr>
            <a:noAutofit/>
          </a:bodyPr>
          <a:lstStyle/>
          <a:p>
            <a:r>
              <a:rPr lang="en-US" sz="4800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Insights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2F6ABD4-738D-3AC7-380A-4FB76C3EEBD7}"/>
                  </a:ext>
                </a:extLst>
              </p14:cNvPr>
              <p14:cNvContentPartPr/>
              <p14:nvPr/>
            </p14:nvContentPartPr>
            <p14:xfrm>
              <a:off x="-428655" y="129549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2F6ABD4-738D-3AC7-380A-4FB76C3EEB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37655" y="128649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5918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8A95C-ACC7-4A56-B0F1-6A79290FF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43" y="365125"/>
            <a:ext cx="11100126" cy="996737"/>
          </a:xfrm>
        </p:spPr>
        <p:txBody>
          <a:bodyPr>
            <a:normAutofit/>
          </a:bodyPr>
          <a:lstStyle/>
          <a:p>
            <a:r>
              <a:rPr lang="en-US" sz="3400" b="1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Restaurant Footprint By Country</a:t>
            </a:r>
            <a:endParaRPr lang="en-IN" sz="3400" b="1" cap="none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637FFF-821C-6210-0E8E-260A5FCC87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3710" y="1361862"/>
            <a:ext cx="5803289" cy="49627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237E73-2F9C-F40C-18F7-0E81DA337762}"/>
              </a:ext>
            </a:extLst>
          </p:cNvPr>
          <p:cNvSpPr txBox="1"/>
          <p:nvPr/>
        </p:nvSpPr>
        <p:spPr>
          <a:xfrm>
            <a:off x="6699566" y="1361862"/>
            <a:ext cx="45399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 = 90% restaurants (8,652 of 9,551) → strong domestic footprint.</a:t>
            </a:r>
          </a:p>
          <a:p>
            <a:pPr algn="just"/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Brazil, South Africa, UAE, UK, USA = moderate presence (60–434) → scalable.</a:t>
            </a:r>
          </a:p>
          <a:p>
            <a:pPr algn="just"/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Qatar, Singapore, Sri Lanka, Canada = very low (4–20) → untapped markets.</a:t>
            </a:r>
            <a:endParaRPr lang="en-IN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00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435F1-F7A9-9E48-8165-54BF636C0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392E-E949-CE72-1171-FDA53D2C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43" y="365126"/>
            <a:ext cx="11100126" cy="1073150"/>
          </a:xfrm>
        </p:spPr>
        <p:txBody>
          <a:bodyPr>
            <a:normAutofit/>
          </a:bodyPr>
          <a:lstStyle/>
          <a:p>
            <a:r>
              <a:rPr lang="en-US" sz="3400" b="1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Restaurant Growth Trend (2010–2018)</a:t>
            </a:r>
            <a:endParaRPr lang="en-IN" sz="3400" b="1" cap="none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5AFB65-CBB9-7D5B-B9E8-3B203833DC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3043" y="1438276"/>
            <a:ext cx="6362582" cy="49053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18D749-3543-6EEB-9149-7A6B3ADF1ECE}"/>
              </a:ext>
            </a:extLst>
          </p:cNvPr>
          <p:cNvSpPr txBox="1"/>
          <p:nvPr/>
        </p:nvSpPr>
        <p:spPr>
          <a:xfrm>
            <a:off x="7162799" y="1482404"/>
            <a:ext cx="43217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Steady ~1,050 new restaurants/year.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Peaks: 2011 (1,098), 2018 (1,102).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growth → sustained demand.</a:t>
            </a:r>
            <a:endParaRPr lang="en-IN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834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1733B-91F2-628E-C610-3A18AC848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D8307-FF6B-4BED-B4D5-CCE4068FF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42" y="365126"/>
            <a:ext cx="11210807" cy="863600"/>
          </a:xfrm>
        </p:spPr>
        <p:txBody>
          <a:bodyPr>
            <a:normAutofit/>
          </a:bodyPr>
          <a:lstStyle/>
          <a:p>
            <a:r>
              <a:rPr lang="en-US" sz="3400" b="1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Restaurant Ratings By Country</a:t>
            </a:r>
            <a:endParaRPr lang="en-IN" sz="3400" b="1" cap="none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04CCC0-FBA7-6D72-B6CA-66B4BF9157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3042" y="1361862"/>
            <a:ext cx="6448308" cy="36863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BB3F7E-91C6-DF86-0F3E-FB9B6FC46B01}"/>
              </a:ext>
            </a:extLst>
          </p:cNvPr>
          <p:cNvSpPr txBox="1"/>
          <p:nvPr/>
        </p:nvSpPr>
        <p:spPr>
          <a:xfrm>
            <a:off x="7277100" y="1361862"/>
            <a:ext cx="42576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performers: Philippines, Indonesia, New Zealand (&gt;3.8).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Balanced: USA, UK, UAE → moderate presence + good ratings.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spot: India lowest (2.77) despite largest market.</a:t>
            </a:r>
            <a:endParaRPr lang="en-IN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760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7DFDB-0981-0BE9-D6C1-819102449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A95C9-9C63-0299-2512-CCF71050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42" y="365126"/>
            <a:ext cx="11477508" cy="1073150"/>
          </a:xfrm>
        </p:spPr>
        <p:txBody>
          <a:bodyPr>
            <a:normAutofit/>
          </a:bodyPr>
          <a:lstStyle/>
          <a:p>
            <a:r>
              <a:rPr lang="en-US" sz="3400" b="1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Country-wise Dining Cost Comparison (In INR)</a:t>
            </a:r>
            <a:endParaRPr lang="en-IN" sz="3400" b="1" cap="none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8F9C16-BE88-FBBE-E993-017486887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3043" y="1438276"/>
            <a:ext cx="6172082" cy="48672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56062B-1A7D-0EC3-B600-5D372F8FF4DB}"/>
              </a:ext>
            </a:extLst>
          </p:cNvPr>
          <p:cNvSpPr txBox="1"/>
          <p:nvPr/>
        </p:nvSpPr>
        <p:spPr>
          <a:xfrm>
            <a:off x="7058025" y="1438276"/>
            <a:ext cx="41528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High-cost: Singapore (13,295 INR), Philippines (10,370 INR).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nn-NO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Mid-range: UK, USA, UAE, NZ (3,600–5,500 INR).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nn-NO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Affordable: India, Sri Lanka, Turkey, Indonesia (&lt;1,500 INR).</a:t>
            </a:r>
            <a:endParaRPr lang="en-IN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812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0951D-267C-8A04-E738-58A3EB10D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7A7B-D022-2510-B1AB-4A3A0B7B4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65126"/>
            <a:ext cx="11449050" cy="863599"/>
          </a:xfrm>
        </p:spPr>
        <p:txBody>
          <a:bodyPr>
            <a:normAutofit/>
          </a:bodyPr>
          <a:lstStyle/>
          <a:p>
            <a:r>
              <a:rPr lang="en-IN" sz="3400" b="1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Top 10 Winning Cuisines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C7D110-020F-FB71-B2BF-6F87E57894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5954" y="1361862"/>
            <a:ext cx="10224969" cy="51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195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F9FC2-32E3-CB15-5E86-0C2F5E199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DC7A-F8F8-5A19-375C-94C3C74CB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43" y="365126"/>
            <a:ext cx="11100126" cy="1073150"/>
          </a:xfrm>
        </p:spPr>
        <p:txBody>
          <a:bodyPr>
            <a:normAutofit/>
          </a:bodyPr>
          <a:lstStyle/>
          <a:p>
            <a:r>
              <a:rPr lang="en-US" sz="3400" b="1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 Delivery Adoption</a:t>
            </a:r>
            <a:endParaRPr lang="en-IN" sz="3400" b="1" cap="none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E7810-4B06-46FB-DD35-C4EFF38E2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92516" y="1613565"/>
            <a:ext cx="5403484" cy="40823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A7B857-A05C-D8B9-DFBE-42D816010D77}"/>
              </a:ext>
            </a:extLst>
          </p:cNvPr>
          <p:cNvSpPr txBox="1"/>
          <p:nvPr/>
        </p:nvSpPr>
        <p:spPr>
          <a:xfrm>
            <a:off x="6598015" y="1613564"/>
            <a:ext cx="46700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74% (7,100) → No online delivery.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26% (2,451) → Online delivery available.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= opportunity for digital adoption</a:t>
            </a:r>
            <a:endParaRPr lang="en-IN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565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77D88-CF27-8232-3935-D2846C29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1CBE-BCBA-BAD6-4D6F-2EACF3FDD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37" y="365126"/>
            <a:ext cx="11100126" cy="1073150"/>
          </a:xfrm>
        </p:spPr>
        <p:txBody>
          <a:bodyPr>
            <a:normAutofit/>
          </a:bodyPr>
          <a:lstStyle/>
          <a:p>
            <a:r>
              <a:rPr lang="en-US" sz="3400" b="1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Table Booking Availability</a:t>
            </a:r>
            <a:endParaRPr lang="en-IN" sz="3400" b="1" cap="none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87EA4-6616-3E80-D6A0-928591B9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95350" y="1638300"/>
            <a:ext cx="5029200" cy="38385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5F6805-9EF9-4A41-1A7F-05D47F05C0E7}"/>
              </a:ext>
            </a:extLst>
          </p:cNvPr>
          <p:cNvSpPr txBox="1"/>
          <p:nvPr/>
        </p:nvSpPr>
        <p:spPr>
          <a:xfrm>
            <a:off x="6391275" y="1638299"/>
            <a:ext cx="49053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88% (8,393) → No table booking.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12% (1,158) → Table booking available.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Untapped area for convenience &amp; planning.</a:t>
            </a:r>
            <a:endParaRPr lang="en-IN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566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EB556-3E56-BF44-6413-84211C5A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114301"/>
            <a:ext cx="7277101" cy="847724"/>
          </a:xfrm>
        </p:spPr>
        <p:txBody>
          <a:bodyPr>
            <a:noAutofit/>
          </a:bodyPr>
          <a:lstStyle/>
          <a:p>
            <a:r>
              <a:rPr lang="en-US" sz="3400" b="1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At A Glance</a:t>
            </a:r>
            <a:endParaRPr lang="en-IN" sz="3400" b="1" cap="none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F6EB09-26E8-B261-3B06-1D57FB659F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962025"/>
            <a:ext cx="12191997" cy="578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5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6D9C5-2535-66F3-C156-B2122BCD7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61AF8BD-6BEB-E955-0D3B-8AF23767AD9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95610"/>
            <a:ext cx="12192000" cy="691479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2D51DB4-9AA0-A14A-9177-193021CEA7B5}"/>
                  </a:ext>
                </a:extLst>
              </p14:cNvPr>
              <p14:cNvContentPartPr/>
              <p14:nvPr/>
            </p14:nvContentPartPr>
            <p14:xfrm>
              <a:off x="-428655" y="129549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2D51DB4-9AA0-A14A-9177-193021CEA7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37655" y="128649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7CE5F60B-AD9F-17A3-B6CB-6071882F282D}"/>
              </a:ext>
            </a:extLst>
          </p:cNvPr>
          <p:cNvSpPr txBox="1"/>
          <p:nvPr/>
        </p:nvSpPr>
        <p:spPr>
          <a:xfrm>
            <a:off x="1295400" y="1504950"/>
            <a:ext cx="70823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nn-NO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Markets: Qatar, Indonesia, New Zealand, Sri Lanka.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nn-NO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Why: High ratings + low competition + favorable dining cost.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Opportunity: Balance of premium and budget-friendly models.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7B08D-00F8-F8F4-57A5-0EA9CC1622A8}"/>
              </a:ext>
            </a:extLst>
          </p:cNvPr>
          <p:cNvSpPr txBox="1"/>
          <p:nvPr/>
        </p:nvSpPr>
        <p:spPr>
          <a:xfrm>
            <a:off x="1295399" y="685800"/>
            <a:ext cx="298246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Insights</a:t>
            </a:r>
          </a:p>
        </p:txBody>
      </p:sp>
    </p:spTree>
    <p:extLst>
      <p:ext uri="{BB962C8B-B14F-4D97-AF65-F5344CB8AC3E}">
        <p14:creationId xmlns:p14="http://schemas.microsoft.com/office/powerpoint/2010/main" val="528068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DB2AB-0E8D-3A32-7663-853E8E096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825954-D8AB-9252-0C58-5FA2FA723A27}"/>
              </a:ext>
            </a:extLst>
          </p:cNvPr>
          <p:cNvSpPr txBox="1"/>
          <p:nvPr/>
        </p:nvSpPr>
        <p:spPr>
          <a:xfrm>
            <a:off x="1123950" y="495301"/>
            <a:ext cx="614836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Recommendations</a:t>
            </a:r>
            <a:endParaRPr lang="en-IN" sz="34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4D409-7CF1-8589-8F1C-46C35CA146A8}"/>
              </a:ext>
            </a:extLst>
          </p:cNvPr>
          <p:cNvSpPr txBox="1"/>
          <p:nvPr/>
        </p:nvSpPr>
        <p:spPr>
          <a:xfrm>
            <a:off x="1123950" y="1323975"/>
            <a:ext cx="108013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Expansion Markets: Qatar, Indonesia, New Zealand, Sri Lanka.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Cuisines: Indo-Chinese (Qatar), Seafood (Sri Lanka), Dessert cafés (NZ), Modern cafés (Indonesia).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Features: Online delivery + Table booking from day 1.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Pricing: Affordable in budget markets; premium branding in developed markets.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Focus: Quality, service &amp; ambiance &gt; pricing.</a:t>
            </a:r>
            <a:endParaRPr lang="en-IN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378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60CDAC-E3E1-406F-9828-91ED4C11D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3522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60">
      <a:dk1>
        <a:srgbClr val="000000"/>
      </a:dk1>
      <a:lt1>
        <a:srgbClr val="FFFFFF"/>
      </a:lt1>
      <a:dk2>
        <a:srgbClr val="E2D4C0"/>
      </a:dk2>
      <a:lt2>
        <a:srgbClr val="E6E6E6"/>
      </a:lt2>
      <a:accent1>
        <a:srgbClr val="E2CBB9"/>
      </a:accent1>
      <a:accent2>
        <a:srgbClr val="843F00"/>
      </a:accent2>
      <a:accent3>
        <a:srgbClr val="562F08"/>
      </a:accent3>
      <a:accent4>
        <a:srgbClr val="91CF50"/>
      </a:accent4>
      <a:accent5>
        <a:srgbClr val="2B9C4F"/>
      </a:accent5>
      <a:accent6>
        <a:srgbClr val="0B7149"/>
      </a:accent6>
      <a:hlink>
        <a:srgbClr val="FFF8F9"/>
      </a:hlink>
      <a:folHlink>
        <a:srgbClr val="2B6ACD"/>
      </a:folHlink>
    </a:clrScheme>
    <a:fontScheme name="Custom 71">
      <a:majorFont>
        <a:latin typeface="Lato Black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01884_Win32_SL_v5" id="{7AFE633C-0110-4F77-84ED-A8BF8EBFD362}" vid="{80EE89D2-E5CC-48AF-BB35-D1580B918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0EAE634-DEC4-4395-A997-0E4563AFF1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DD14FD-BC23-4945-A0FC-5BDE75B3DF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510185-06BE-4162-BEE1-5DC8B9C9C1B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Coffee Shop Business Pitch Deck</Template>
  <TotalTime>901</TotalTime>
  <Words>456</Words>
  <Application>Microsoft Office PowerPoint</Application>
  <PresentationFormat>Widescreen</PresentationFormat>
  <Paragraphs>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Lato</vt:lpstr>
      <vt:lpstr>Lato Black</vt:lpstr>
      <vt:lpstr>Custom</vt:lpstr>
      <vt:lpstr>RESTAURANTS EXPANSION </vt:lpstr>
      <vt:lpstr>Presentation Overview</vt:lpstr>
      <vt:lpstr>PowerPoint Presentation</vt:lpstr>
      <vt:lpstr>PowerPoint Presentation</vt:lpstr>
      <vt:lpstr>Performance Insights</vt:lpstr>
      <vt:lpstr>Global Restaurant Footprint By Country</vt:lpstr>
      <vt:lpstr>Restaurant Growth Trend (2010–2018)</vt:lpstr>
      <vt:lpstr>Average Restaurant Ratings By Country</vt:lpstr>
      <vt:lpstr>Country-wise Dining Cost Comparison (In INR)</vt:lpstr>
      <vt:lpstr>   Top 10 Winning Cuisines</vt:lpstr>
      <vt:lpstr>Online Delivery Adoption</vt:lpstr>
      <vt:lpstr>  Table Booking Availability</vt:lpstr>
      <vt:lpstr>Dashboard At A Glance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Kumar Katepalli</dc:creator>
  <cp:lastModifiedBy>Sai Kumar Katepalli</cp:lastModifiedBy>
  <cp:revision>25</cp:revision>
  <dcterms:created xsi:type="dcterms:W3CDTF">2025-06-22T09:34:17Z</dcterms:created>
  <dcterms:modified xsi:type="dcterms:W3CDTF">2025-09-08T17:21:30Z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